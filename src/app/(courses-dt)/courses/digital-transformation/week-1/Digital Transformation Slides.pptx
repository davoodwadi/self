
<file path=[Content_Types].xml><?xml version="1.0" encoding="utf-8"?>
<Types xmlns="http://schemas.openxmlformats.org/package/2006/content-types">
  <Default Extension="xml" ContentType="application/xml"/>
  <Default Extension="rels" ContentType="application/vnd.openxmlformats-package.relationships+xml"/>
  <Default Extension="jpg" ContentType="image/jpeg"/>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5"/>
    <p:restoredTop autoAdjust="0" sz="94703"/>
  </p:normalViewPr>
  <p:slideViewPr>
    <p:cSldViewPr snapToGrid="0" snapToObjects="1">
      <p:cViewPr varScale="1">
        <p:scale>
          <a:sx d="100" n="145"/>
          <a:sy d="100" n="145"/>
        </p:scale>
        <p:origin x="680" y="176"/>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9" Type="http://schemas.openxmlformats.org/officeDocument/2006/relationships/viewProps" Target="viewProps.xml" /><Relationship Id="rId28" Type="http://schemas.openxmlformats.org/officeDocument/2006/relationships/presProps" Target="presProps.xml" /><Relationship Id="rId33" Type="http://schemas.microsoft.com/office/2015/10/relationships/revisionInfo" Target="revisionInfo.xml" /><Relationship Id="rId1" Type="http://schemas.openxmlformats.org/officeDocument/2006/relationships/slideMaster" Target="slideMasters/slideMaster1.xml" /><Relationship Id="rId32" Type="http://schemas.microsoft.com/office/2016/11/relationships/changesInfo" Target="changesInfos/changesInfo1.xml" /><Relationship Id="rId31" Type="http://schemas.openxmlformats.org/officeDocument/2006/relationships/tableStyles" Target="tableStyles.xml" /><Relationship Id="rId30"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1/13/25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1/13/25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1/13/25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1/13/25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1/13/25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1/13/25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13" Target="../media/image1.png" Type="http://schemas.openxmlformats.org/officeDocument/2006/relationships/image"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1/13/25</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pic>
        <p:nvPicPr>
          <p:cNvPr descr="A red logo with white text  Description automatically generated" id="8" name="Picture 7">
            <a:extLst>
              <a:ext uri="{FF2B5EF4-FFF2-40B4-BE49-F238E27FC236}">
                <a16:creationId xmlns:a16="http://schemas.microsoft.com/office/drawing/2014/main" id="{BB4BEFF2-C78D-0C5F-175C-CAF6626B365E}"/>
              </a:ext>
            </a:extLst>
          </p:cNvPr>
          <p:cNvPicPr>
            <a:picLocks noChangeAspect="1"/>
          </p:cNvPicPr>
          <p:nvPr userDrawn="1"/>
        </p:nvPicPr>
        <p:blipFill>
          <a:blip r:embed="rId13"/>
          <a:stretch>
            <a:fillRect/>
          </a:stretch>
        </p:blipFill>
        <p:spPr>
          <a:xfrm>
            <a:off x="8102600" y="82154"/>
            <a:ext cx="1041400" cy="1104900"/>
          </a:xfrm>
          <a:prstGeom prst="rect">
            <a:avLst/>
          </a:prstGeom>
        </p:spPr>
      </p:pic>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jp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png" /></Relationships>
</file>

<file path=ppt/slides/_rels/slide1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png" /></Relationships>
</file>

<file path=ppt/slides/_rels/slide2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png"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Introduction to digital transformation</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r>
              <a:rPr/>
              <a:t>Dr. Davood Wadi</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Foundations of Digital Transformation</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Agenda</a:t>
            </a:r>
          </a:p>
        </p:txBody>
      </p:sp>
      <p:sp>
        <p:nvSpPr>
          <p:cNvPr id="3" name="Content Placeholder 2"/>
          <p:cNvSpPr>
            <a:spLocks noGrp="1"/>
          </p:cNvSpPr>
          <p:nvPr>
            <p:ph idx="1"/>
          </p:nvPr>
        </p:nvSpPr>
        <p:spPr/>
        <p:txBody>
          <a:bodyPr/>
          <a:lstStyle/>
          <a:p>
            <a:pPr lvl="0"/>
            <a:r>
              <a:rPr/>
              <a:t>Introduction to Digital Transformation</a:t>
            </a:r>
          </a:p>
          <a:p>
            <a:pPr lvl="0"/>
            <a:r>
              <a:rPr/>
              <a:t>Digitization, Digitalization, and Digital Transformation</a:t>
            </a:r>
          </a:p>
          <a:p>
            <a:pPr lvl="0"/>
            <a:r>
              <a:rPr/>
              <a:t>The Digital Transformation Pyramid</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Digital Transformation</a:t>
            </a:r>
          </a:p>
        </p:txBody>
      </p:sp>
      <p:sp>
        <p:nvSpPr>
          <p:cNvPr id="3" name="Content Placeholder 2"/>
          <p:cNvSpPr>
            <a:spLocks noGrp="1"/>
          </p:cNvSpPr>
          <p:nvPr>
            <p:ph idx="1"/>
          </p:nvPr>
        </p:nvSpPr>
        <p:spPr/>
        <p:txBody>
          <a:bodyPr/>
          <a:lstStyle/>
          <a:p>
            <a:pPr lvl="0"/>
            <a:r>
              <a:rPr/>
              <a:t>Digital transformation is the integration of digital technology into all areas of a business.</a:t>
            </a:r>
            <a:br/>
          </a:p>
          <a:p>
            <a:pPr lvl="0"/>
            <a:r>
              <a:rPr/>
              <a:t>It fundamentally changes how businesses operate and deliver value to customers.</a:t>
            </a:r>
            <a:br/>
          </a:p>
          <a:p>
            <a:pPr lvl="0"/>
            <a:r>
              <a:rPr/>
              <a:t>It requires a cultural shift that challenges the status quo.</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Digital Transformation</a:t>
            </a:r>
          </a:p>
        </p:txBody>
      </p:sp>
      <p:sp>
        <p:nvSpPr>
          <p:cNvPr id="3" name="Content Placeholder 2"/>
          <p:cNvSpPr>
            <a:spLocks noGrp="1"/>
          </p:cNvSpPr>
          <p:nvPr>
            <p:ph idx="1"/>
          </p:nvPr>
        </p:nvSpPr>
        <p:spPr/>
        <p:txBody>
          <a:bodyPr/>
          <a:lstStyle/>
          <a:p>
            <a:pPr lvl="0"/>
            <a:r>
              <a:rPr/>
              <a:t>Technology is a key enabler, but people and processes are equally important.</a:t>
            </a:r>
            <a:br/>
          </a:p>
          <a:p>
            <a:pPr lvl="0"/>
            <a:r>
              <a:rPr/>
              <a:t>Data-driven decision-making is essential for successful transformation.</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Key Components of Digital Transformation</a:t>
            </a:r>
          </a:p>
        </p:txBody>
      </p:sp>
      <p:sp>
        <p:nvSpPr>
          <p:cNvPr id="3" name="Content Placeholder 2"/>
          <p:cNvSpPr>
            <a:spLocks noGrp="1"/>
          </p:cNvSpPr>
          <p:nvPr>
            <p:ph idx="1"/>
          </p:nvPr>
        </p:nvSpPr>
        <p:spPr/>
        <p:txBody>
          <a:bodyPr/>
          <a:lstStyle/>
          <a:p>
            <a:pPr lvl="0" indent="-342900" marL="342900">
              <a:buAutoNum type="arabicPeriod"/>
            </a:pPr>
            <a:r>
              <a:rPr b="1"/>
              <a:t>Technology Integration</a:t>
            </a:r>
            <a:r>
              <a:rPr/>
              <a:t>: This involves the adoption of advanced technologies such as cloud computing, artificial intelligence (AI), big data analytics, the Internet of Things (IoT), and automation. These technologies enable organizations to streamline processes, enhance decision-making, and improve efficiency.</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Key Components of Digital Transformation</a:t>
            </a:r>
          </a:p>
        </p:txBody>
      </p:sp>
      <p:sp>
        <p:nvSpPr>
          <p:cNvPr id="3" name="Content Placeholder 2"/>
          <p:cNvSpPr>
            <a:spLocks noGrp="1"/>
          </p:cNvSpPr>
          <p:nvPr>
            <p:ph idx="1"/>
          </p:nvPr>
        </p:nvSpPr>
        <p:spPr/>
        <p:txBody>
          <a:bodyPr/>
          <a:lstStyle/>
          <a:p>
            <a:pPr lvl="0" indent="-342900" marL="342900">
              <a:buAutoNum startAt="2" type="arabicPeriod"/>
            </a:pPr>
            <a:r>
              <a:rPr b="1"/>
              <a:t>Cultural Change</a:t>
            </a:r>
            <a:r>
              <a:rPr/>
              <a:t>: Digital transformation requires a shift in organizational culture. It encourages a mindset of innovation, agility, and collaboration. Employees at all levels must be willing to embrace change, experiment with new ideas, and adapt to evolving market conditions.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Key Components of Digital Transformation</a:t>
            </a:r>
          </a:p>
        </p:txBody>
      </p:sp>
      <p:sp>
        <p:nvSpPr>
          <p:cNvPr id="3" name="Content Placeholder 2"/>
          <p:cNvSpPr>
            <a:spLocks noGrp="1"/>
          </p:cNvSpPr>
          <p:nvPr>
            <p:ph idx="1"/>
          </p:nvPr>
        </p:nvSpPr>
        <p:spPr/>
        <p:txBody>
          <a:bodyPr/>
          <a:lstStyle/>
          <a:p>
            <a:pPr lvl="0" indent="-342900" marL="342900">
              <a:buAutoNum startAt="3" type="arabicPeriod"/>
            </a:pPr>
            <a:r>
              <a:rPr b="1"/>
              <a:t>Customer-Centric Approach</a:t>
            </a:r>
            <a:r>
              <a:rPr/>
              <a:t>: Understanding and meeting customer needs is at the heart of digital transformation. Organizations must leverage data and analytics to gain insights into customer behavior, preferences, and pain points, allowing them to deliver personalized experiences and build stronger relationships.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Key Components of Digital Transformation</a:t>
            </a:r>
          </a:p>
        </p:txBody>
      </p:sp>
      <p:sp>
        <p:nvSpPr>
          <p:cNvPr id="3" name="Content Placeholder 2"/>
          <p:cNvSpPr>
            <a:spLocks noGrp="1"/>
          </p:cNvSpPr>
          <p:nvPr>
            <p:ph idx="1"/>
          </p:nvPr>
        </p:nvSpPr>
        <p:spPr/>
        <p:txBody>
          <a:bodyPr/>
          <a:lstStyle/>
          <a:p>
            <a:pPr lvl="0" indent="-342900" marL="342900">
              <a:buAutoNum startAt="4" type="arabicPeriod"/>
            </a:pPr>
            <a:r>
              <a:rPr b="1"/>
              <a:t>Process Optimization</a:t>
            </a:r>
            <a:r>
              <a:rPr/>
              <a:t>: Digital transformation often involves reengineering business processes to eliminate inefficiencies and enhance productivity. This can include automating routine tasks, improving supply chain management, and optimizing resource allocation.</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Key Components of Digital Transformation</a:t>
            </a:r>
          </a:p>
        </p:txBody>
      </p:sp>
      <p:sp>
        <p:nvSpPr>
          <p:cNvPr id="3" name="Content Placeholder 2"/>
          <p:cNvSpPr>
            <a:spLocks noGrp="1"/>
          </p:cNvSpPr>
          <p:nvPr>
            <p:ph idx="1"/>
          </p:nvPr>
        </p:nvSpPr>
        <p:spPr/>
        <p:txBody>
          <a:bodyPr/>
          <a:lstStyle/>
          <a:p>
            <a:pPr lvl="0" indent="-342900" marL="342900">
              <a:buAutoNum startAt="5" type="arabicPeriod"/>
            </a:pPr>
            <a:r>
              <a:rPr b="1"/>
              <a:t>Data-Driven Decision Making</a:t>
            </a:r>
            <a:r>
              <a:rPr/>
              <a:t>: Organizations must harness the power of data to inform their strategies and operations. By collecting, analyzing, and interpreting data, businesses can make informed decisions that drive growth and innovation.</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Key Components of Digital Transformation</a:t>
            </a:r>
          </a:p>
        </p:txBody>
      </p:sp>
      <p:sp>
        <p:nvSpPr>
          <p:cNvPr id="3" name="Content Placeholder 2"/>
          <p:cNvSpPr>
            <a:spLocks noGrp="1"/>
          </p:cNvSpPr>
          <p:nvPr>
            <p:ph idx="1"/>
          </p:nvPr>
        </p:nvSpPr>
        <p:spPr/>
        <p:txBody>
          <a:bodyPr/>
          <a:lstStyle/>
          <a:p>
            <a:pPr lvl="0" indent="-342900" marL="342900">
              <a:buAutoNum startAt="6" type="arabicPeriod"/>
            </a:pPr>
            <a:r>
              <a:rPr b="1"/>
              <a:t>Agility and Flexibility</a:t>
            </a:r>
            <a:r>
              <a:rPr/>
              <a:t>: In a rapidly changing digital landscape, organizations must be agile and responsive. This means being able to quickly adapt to new technologies, market trends, and customer demands.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Discussion Question</a:t>
            </a:r>
          </a:p>
        </p:txBody>
      </p:sp>
      <p:sp>
        <p:nvSpPr>
          <p:cNvPr id="3" name="Content Placeholder 2"/>
          <p:cNvSpPr>
            <a:spLocks noGrp="1"/>
          </p:cNvSpPr>
          <p:nvPr>
            <p:ph idx="1"/>
          </p:nvPr>
        </p:nvSpPr>
        <p:spPr/>
        <p:txBody>
          <a:bodyPr/>
          <a:lstStyle/>
          <a:p>
            <a:pPr lvl="0" indent="0" marL="0">
              <a:buNone/>
            </a:pPr>
            <a:r>
              <a:rPr/>
              <a:t>Which company exemplifies Digital Transformation?</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Digitization, Digitalization, and Digital Transformation</a:t>
            </a:r>
          </a:p>
        </p:txBody>
      </p:sp>
      <p:pic>
        <p:nvPicPr>
          <p:cNvPr descr="ddd.jpeg" id="0" name="Picture 1"/>
          <p:cNvPicPr>
            <a:picLocks noGrp="1" noChangeAspect="1"/>
          </p:cNvPicPr>
          <p:nvPr/>
        </p:nvPicPr>
        <p:blipFill>
          <a:blip r:embed="rId2"/>
          <a:stretch>
            <a:fillRect/>
          </a:stretch>
        </p:blipFill>
        <p:spPr bwMode="auto">
          <a:xfrm>
            <a:off x="1422400" y="1193800"/>
            <a:ext cx="6286500" cy="33909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Digitization, Digitalization, and Digital Transformation</a:t>
            </a:r>
          </a:p>
        </p:txBody>
      </p:sp>
      <p:sp>
        <p:nvSpPr>
          <p:cNvPr id="3" name="Content Placeholder 2"/>
          <p:cNvSpPr>
            <a:spLocks noGrp="1"/>
          </p:cNvSpPr>
          <p:nvPr>
            <p:ph idx="1"/>
          </p:nvPr>
        </p:nvSpPr>
        <p:spPr/>
        <p:txBody>
          <a:bodyPr/>
          <a:lstStyle/>
          <a:p>
            <a:pPr lvl="0"/>
            <a:r>
              <a:rPr/>
              <a:t>Digitization refers to converting analog information into digital format.</a:t>
            </a:r>
            <a:br/>
          </a:p>
          <a:p>
            <a:pPr lvl="0"/>
            <a:r>
              <a:rPr/>
              <a:t>It involves the use of technology to improve efficiency and accuracy.</a:t>
            </a:r>
            <a:br/>
          </a:p>
          <a:p>
            <a:pPr lvl="0"/>
            <a:r>
              <a:rPr/>
              <a:t>Digital transformation goes beyond digitization by rethinking business models and processes.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Digitization, Digitalization, and Digital Transformation</a:t>
            </a:r>
          </a:p>
        </p:txBody>
      </p:sp>
      <p:sp>
        <p:nvSpPr>
          <p:cNvPr id="3" name="Content Placeholder 2"/>
          <p:cNvSpPr>
            <a:spLocks noGrp="1"/>
          </p:cNvSpPr>
          <p:nvPr>
            <p:ph idx="1"/>
          </p:nvPr>
        </p:nvSpPr>
        <p:spPr/>
        <p:txBody>
          <a:bodyPr/>
          <a:lstStyle/>
          <a:p>
            <a:pPr lvl="0"/>
            <a:r>
              <a:rPr/>
              <a:t>It focuses on enhancing customer experiences and creating new value propositions.</a:t>
            </a:r>
            <a:br/>
          </a:p>
          <a:p>
            <a:pPr lvl="0"/>
            <a:r>
              <a:rPr/>
              <a:t>Successful digital transformation requires a strategic vision and leadership commitment.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Digitization, Digitalization, and Digital Transformation</a:t>
            </a:r>
          </a:p>
        </p:txBody>
      </p:sp>
      <p:pic>
        <p:nvPicPr>
          <p:cNvPr descr="dt.png" id="0" name="Picture 1"/>
          <p:cNvPicPr>
            <a:picLocks noGrp="1" noChangeAspect="1"/>
          </p:cNvPicPr>
          <p:nvPr/>
        </p:nvPicPr>
        <p:blipFill>
          <a:blip r:embed="rId2"/>
          <a:stretch>
            <a:fillRect/>
          </a:stretch>
        </p:blipFill>
        <p:spPr bwMode="auto">
          <a:xfrm>
            <a:off x="1041400" y="1193800"/>
            <a:ext cx="7061200" cy="3390900"/>
          </a:xfrm>
          <a:prstGeom prst="rect">
            <a:avLst/>
          </a:prstGeom>
          <a:noFill/>
          <a:ln w="9525">
            <a:noFill/>
            <a:headEnd/>
            <a:tailEnd/>
          </a:ln>
        </p:spPr>
      </p:pic>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Discussion Question</a:t>
            </a:r>
          </a:p>
        </p:txBody>
      </p:sp>
      <p:sp>
        <p:nvSpPr>
          <p:cNvPr id="3" name="Content Placeholder 2"/>
          <p:cNvSpPr>
            <a:spLocks noGrp="1"/>
          </p:cNvSpPr>
          <p:nvPr>
            <p:ph idx="1"/>
          </p:nvPr>
        </p:nvSpPr>
        <p:spPr/>
        <p:txBody>
          <a:bodyPr/>
          <a:lstStyle/>
          <a:p>
            <a:pPr lvl="0" indent="0" marL="0">
              <a:buNone/>
            </a:pPr>
            <a:r>
              <a:rPr/>
              <a:t>How can organizations ensure that their digitization efforts align with their overall digital transformation strategy?</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Digital Transformation Pyramid</a:t>
            </a:r>
          </a:p>
        </p:txBody>
      </p:sp>
      <p:pic>
        <p:nvPicPr>
          <p:cNvPr descr="dt_pyramid.png" id="0" name="Picture 1"/>
          <p:cNvPicPr>
            <a:picLocks noGrp="1" noChangeAspect="1"/>
          </p:cNvPicPr>
          <p:nvPr/>
        </p:nvPicPr>
        <p:blipFill>
          <a:blip r:embed="rId2"/>
          <a:stretch>
            <a:fillRect/>
          </a:stretch>
        </p:blipFill>
        <p:spPr bwMode="auto">
          <a:xfrm>
            <a:off x="2273300" y="1193800"/>
            <a:ext cx="4610100" cy="3390900"/>
          </a:xfrm>
          <a:prstGeom prst="rect">
            <a:avLst/>
          </a:prstGeom>
          <a:noFill/>
          <a:ln w="9525">
            <a:noFill/>
            <a:headEnd/>
            <a:tailEnd/>
          </a:ln>
        </p:spPr>
      </p:pic>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The Digital Transformation Pyramid</a:t>
            </a:r>
          </a:p>
        </p:txBody>
      </p:sp>
      <p:sp>
        <p:nvSpPr>
          <p:cNvPr id="4" name="Text Placeholder 3"/>
          <p:cNvSpPr>
            <a:spLocks noGrp="1"/>
          </p:cNvSpPr>
          <p:nvPr>
            <p:ph idx="2" sz="half" type="body"/>
          </p:nvPr>
        </p:nvSpPr>
        <p:spPr/>
        <p:txBody>
          <a:bodyPr/>
          <a:lstStyle/>
          <a:p>
            <a:pPr lvl="0" indent="0" marL="0">
              <a:spcBef>
                <a:spcPts val="3000"/>
              </a:spcBef>
              <a:buNone/>
            </a:pPr>
            <a:r>
              <a:rPr b="1"/>
              <a:t>1. Foundation Layer (Technology Infrastructure)</a:t>
            </a:r>
          </a:p>
          <a:p>
            <a:pPr lvl="0"/>
            <a:r>
              <a:rPr b="1"/>
              <a:t>Description</a:t>
            </a:r>
            <a:r>
              <a:rPr/>
              <a:t>: This is the base of the pyramid and includes the essential technology infrastructure that supports digital initiatives. It encompasses hardware, software, networks, and data management systems.</a:t>
            </a:r>
          </a:p>
          <a:p>
            <a:pPr lvl="0"/>
            <a:r>
              <a:rPr b="1"/>
              <a:t>Key Components</a:t>
            </a:r>
            <a:r>
              <a:rPr/>
              <a:t>: Cloud computing, data storage solutions, cybersecurity measures, and network infrastructure.</a:t>
            </a:r>
          </a:p>
        </p:txBody>
      </p:sp>
      <p:pic>
        <p:nvPicPr>
          <p:cNvPr descr="dt_pyramid.png" id="0" name="Picture 1"/>
          <p:cNvPicPr>
            <a:picLocks noGrp="1" noChangeAspect="1"/>
          </p:cNvPicPr>
          <p:nvPr/>
        </p:nvPicPr>
        <p:blipFill>
          <a:blip r:embed="rId2"/>
          <a:stretch>
            <a:fillRect/>
          </a:stretch>
        </p:blipFill>
        <p:spPr bwMode="auto">
          <a:xfrm>
            <a:off x="3568700" y="508000"/>
            <a:ext cx="5105400" cy="3759200"/>
          </a:xfrm>
          <a:prstGeom prst="rect">
            <a:avLst/>
          </a:prstGeom>
          <a:noFill/>
          <a:ln w="9525">
            <a:noFill/>
            <a:headEnd/>
            <a:tailEnd/>
          </a:ln>
        </p:spPr>
      </p:pic>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The Digital Transformation Pyramid</a:t>
            </a:r>
          </a:p>
        </p:txBody>
      </p:sp>
      <p:sp>
        <p:nvSpPr>
          <p:cNvPr id="4" name="Text Placeholder 3"/>
          <p:cNvSpPr>
            <a:spLocks noGrp="1"/>
          </p:cNvSpPr>
          <p:nvPr>
            <p:ph idx="2" sz="half" type="body"/>
          </p:nvPr>
        </p:nvSpPr>
        <p:spPr/>
        <p:txBody>
          <a:bodyPr/>
          <a:lstStyle/>
          <a:p>
            <a:pPr lvl="0" indent="0" marL="0">
              <a:spcBef>
                <a:spcPts val="3000"/>
              </a:spcBef>
              <a:buNone/>
            </a:pPr>
            <a:r>
              <a:rPr b="1"/>
              <a:t>2. Data Layer</a:t>
            </a:r>
          </a:p>
          <a:p>
            <a:pPr lvl="0"/>
            <a:r>
              <a:rPr b="1"/>
              <a:t>Description</a:t>
            </a:r>
            <a:r>
              <a:rPr/>
              <a:t>: Above the foundation, this layer focuses on data collection, management, and analytics. Organizations need to harness data effectively to drive insights and decision-making.</a:t>
            </a:r>
          </a:p>
          <a:p>
            <a:pPr lvl="0"/>
            <a:r>
              <a:rPr b="1"/>
              <a:t>Key Components</a:t>
            </a:r>
            <a:r>
              <a:rPr/>
              <a:t>: Data governance, data analytics tools, business intelligence, and data visualization.</a:t>
            </a:r>
          </a:p>
        </p:txBody>
      </p:sp>
      <p:pic>
        <p:nvPicPr>
          <p:cNvPr descr="dt_pyramid.png" id="0" name="Picture 1"/>
          <p:cNvPicPr>
            <a:picLocks noGrp="1" noChangeAspect="1"/>
          </p:cNvPicPr>
          <p:nvPr/>
        </p:nvPicPr>
        <p:blipFill>
          <a:blip r:embed="rId2"/>
          <a:stretch>
            <a:fillRect/>
          </a:stretch>
        </p:blipFill>
        <p:spPr bwMode="auto">
          <a:xfrm>
            <a:off x="3568700" y="508000"/>
            <a:ext cx="5105400" cy="3759200"/>
          </a:xfrm>
          <a:prstGeom prst="rect">
            <a:avLst/>
          </a:prstGeom>
          <a:noFill/>
          <a:ln w="9525">
            <a:noFill/>
            <a:headEnd/>
            <a:tailEnd/>
          </a:ln>
        </p:spPr>
      </p:pic>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The Digital Transformation Pyramid</a:t>
            </a:r>
          </a:p>
        </p:txBody>
      </p:sp>
      <p:sp>
        <p:nvSpPr>
          <p:cNvPr id="4" name="Text Placeholder 3"/>
          <p:cNvSpPr>
            <a:spLocks noGrp="1"/>
          </p:cNvSpPr>
          <p:nvPr>
            <p:ph idx="2" sz="half" type="body"/>
          </p:nvPr>
        </p:nvSpPr>
        <p:spPr/>
        <p:txBody>
          <a:bodyPr/>
          <a:lstStyle/>
          <a:p>
            <a:pPr lvl="0" indent="0" marL="0">
              <a:spcBef>
                <a:spcPts val="3000"/>
              </a:spcBef>
              <a:buNone/>
            </a:pPr>
            <a:r>
              <a:rPr b="1"/>
              <a:t>3. Process Layer</a:t>
            </a:r>
          </a:p>
          <a:p>
            <a:pPr lvl="0"/>
            <a:r>
              <a:rPr b="1"/>
              <a:t>Description</a:t>
            </a:r>
            <a:r>
              <a:rPr/>
              <a:t>: This layer involves the re-engineering of business processes to leverage digital technologies. It emphasizes automation, efficiency, and agility in operations.</a:t>
            </a:r>
          </a:p>
          <a:p>
            <a:pPr lvl="0"/>
            <a:r>
              <a:rPr b="1"/>
              <a:t>Key Components</a:t>
            </a:r>
            <a:r>
              <a:rPr/>
              <a:t>: Workflow automation, process optimization, and integration of digital tools into existing processes.</a:t>
            </a:r>
          </a:p>
        </p:txBody>
      </p:sp>
      <p:pic>
        <p:nvPicPr>
          <p:cNvPr descr="dt_pyramid.png" id="0" name="Picture 1"/>
          <p:cNvPicPr>
            <a:picLocks noGrp="1" noChangeAspect="1"/>
          </p:cNvPicPr>
          <p:nvPr/>
        </p:nvPicPr>
        <p:blipFill>
          <a:blip r:embed="rId2"/>
          <a:stretch>
            <a:fillRect/>
          </a:stretch>
        </p:blipFill>
        <p:spPr bwMode="auto">
          <a:xfrm>
            <a:off x="3568700" y="508000"/>
            <a:ext cx="5105400" cy="3759200"/>
          </a:xfrm>
          <a:prstGeom prst="rect">
            <a:avLst/>
          </a:prstGeom>
          <a:noFill/>
          <a:ln w="9525">
            <a:noFill/>
            <a:headEnd/>
            <a:tailEnd/>
          </a:ln>
        </p:spPr>
      </p:pic>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The Digital Transformation Pyramid</a:t>
            </a:r>
          </a:p>
        </p:txBody>
      </p:sp>
      <p:sp>
        <p:nvSpPr>
          <p:cNvPr id="4" name="Text Placeholder 3"/>
          <p:cNvSpPr>
            <a:spLocks noGrp="1"/>
          </p:cNvSpPr>
          <p:nvPr>
            <p:ph idx="2" sz="half" type="body"/>
          </p:nvPr>
        </p:nvSpPr>
        <p:spPr/>
        <p:txBody>
          <a:bodyPr/>
          <a:lstStyle/>
          <a:p>
            <a:pPr lvl="0" indent="0" marL="0">
              <a:spcBef>
                <a:spcPts val="3000"/>
              </a:spcBef>
              <a:buNone/>
            </a:pPr>
            <a:r>
              <a:rPr b="1"/>
              <a:t>4. Customer Experience Layer</a:t>
            </a:r>
          </a:p>
          <a:p>
            <a:pPr lvl="0"/>
            <a:r>
              <a:rPr b="1"/>
              <a:t>Description</a:t>
            </a:r>
            <a:r>
              <a:rPr/>
              <a:t>: This layer focuses on enhancing the customer experience through digital channels. It involves understanding customer needs and preferences and delivering personalized experiences.</a:t>
            </a:r>
          </a:p>
          <a:p>
            <a:pPr lvl="0"/>
            <a:r>
              <a:rPr b="1"/>
              <a:t>Key Components</a:t>
            </a:r>
            <a:r>
              <a:rPr/>
              <a:t>: Customer relationship management (CRM) systems, digital marketing strategies, and user experience (UX) design.</a:t>
            </a:r>
          </a:p>
        </p:txBody>
      </p:sp>
      <p:pic>
        <p:nvPicPr>
          <p:cNvPr descr="dt_pyramid.png" id="0" name="Picture 1"/>
          <p:cNvPicPr>
            <a:picLocks noGrp="1" noChangeAspect="1"/>
          </p:cNvPicPr>
          <p:nvPr/>
        </p:nvPicPr>
        <p:blipFill>
          <a:blip r:embed="rId2"/>
          <a:stretch>
            <a:fillRect/>
          </a:stretch>
        </p:blipFill>
        <p:spPr bwMode="auto">
          <a:xfrm>
            <a:off x="3568700" y="508000"/>
            <a:ext cx="5105400" cy="3759200"/>
          </a:xfrm>
          <a:prstGeom prst="rect">
            <a:avLst/>
          </a:prstGeom>
          <a:noFill/>
          <a:ln w="9525">
            <a:noFill/>
            <a:headEnd/>
            <a:tailEnd/>
          </a:ln>
        </p:spPr>
      </p:pic>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The Digital Transformation Pyramid</a:t>
            </a:r>
          </a:p>
        </p:txBody>
      </p:sp>
      <p:sp>
        <p:nvSpPr>
          <p:cNvPr id="4" name="Text Placeholder 3"/>
          <p:cNvSpPr>
            <a:spLocks noGrp="1"/>
          </p:cNvSpPr>
          <p:nvPr>
            <p:ph idx="2" sz="half" type="body"/>
          </p:nvPr>
        </p:nvSpPr>
        <p:spPr/>
        <p:txBody>
          <a:bodyPr/>
          <a:lstStyle/>
          <a:p>
            <a:pPr lvl="0" indent="0" marL="0">
              <a:spcBef>
                <a:spcPts val="3000"/>
              </a:spcBef>
              <a:buNone/>
            </a:pPr>
            <a:r>
              <a:rPr b="1"/>
              <a:t>5. Culture and Leadership Layer</a:t>
            </a:r>
          </a:p>
          <a:p>
            <a:pPr lvl="0"/>
            <a:r>
              <a:rPr b="1"/>
              <a:t>Description</a:t>
            </a:r>
            <a:r>
              <a:rPr/>
              <a:t>: At the top of the pyramid, this layer emphasizes the importance of organizational culture and leadership in driving digital transformation. A supportive culture and visionary leadership are crucial for successful implementation.</a:t>
            </a:r>
          </a:p>
          <a:p>
            <a:pPr lvl="0"/>
            <a:r>
              <a:rPr b="1"/>
              <a:t>Key Components</a:t>
            </a:r>
            <a:r>
              <a:rPr/>
              <a:t>: Change management, employee training and development, and fostering a culture of innovation and collaboration.</a:t>
            </a:r>
          </a:p>
        </p:txBody>
      </p:sp>
      <p:pic>
        <p:nvPicPr>
          <p:cNvPr descr="dt_pyramid.png" id="0" name="Picture 1"/>
          <p:cNvPicPr>
            <a:picLocks noGrp="1" noChangeAspect="1"/>
          </p:cNvPicPr>
          <p:nvPr/>
        </p:nvPicPr>
        <p:blipFill>
          <a:blip r:embed="rId2"/>
          <a:stretch>
            <a:fillRect/>
          </a:stretch>
        </p:blipFill>
        <p:spPr bwMode="auto">
          <a:xfrm>
            <a:off x="3568700" y="508000"/>
            <a:ext cx="5105400" cy="3759200"/>
          </a:xfrm>
          <a:prstGeom prst="rect">
            <a:avLst/>
          </a:prstGeom>
          <a:noFill/>
          <a:ln w="9525">
            <a:noFill/>
            <a:headEnd/>
            <a:tailEnd/>
          </a:ln>
        </p:spPr>
      </p:pic>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The Digital Transformation Pyramid</a:t>
            </a:r>
          </a:p>
        </p:txBody>
      </p:sp>
      <p:sp>
        <p:nvSpPr>
          <p:cNvPr id="4" name="Text Placeholder 3"/>
          <p:cNvSpPr>
            <a:spLocks noGrp="1"/>
          </p:cNvSpPr>
          <p:nvPr>
            <p:ph idx="2" sz="half" type="body"/>
          </p:nvPr>
        </p:nvSpPr>
        <p:spPr/>
        <p:txBody>
          <a:bodyPr/>
          <a:lstStyle/>
          <a:p>
            <a:pPr lvl="0" indent="0" marL="0">
              <a:spcBef>
                <a:spcPts val="3000"/>
              </a:spcBef>
              <a:buNone/>
            </a:pPr>
            <a:r>
              <a:rPr b="1"/>
              <a:t>6. Innovation Layer (Optional)</a:t>
            </a:r>
          </a:p>
          <a:p>
            <a:pPr lvl="0"/>
            <a:r>
              <a:rPr b="1"/>
              <a:t>Description</a:t>
            </a:r>
            <a:r>
              <a:rPr/>
              <a:t>: Some models include an additional layer focused on innovation, which encourages organizations to continuously explore new technologies and business models.</a:t>
            </a:r>
          </a:p>
          <a:p>
            <a:pPr lvl="0"/>
            <a:r>
              <a:rPr b="1"/>
              <a:t>Key Components</a:t>
            </a:r>
            <a:r>
              <a:rPr/>
              <a:t>: Research and development (R&amp;D), experimentation, and partnerships with startups or tech companies.</a:t>
            </a:r>
          </a:p>
        </p:txBody>
      </p:sp>
      <p:pic>
        <p:nvPicPr>
          <p:cNvPr descr="dt_pyramid.png" id="0" name="Picture 1"/>
          <p:cNvPicPr>
            <a:picLocks noGrp="1" noChangeAspect="1"/>
          </p:cNvPicPr>
          <p:nvPr/>
        </p:nvPicPr>
        <p:blipFill>
          <a:blip r:embed="rId2"/>
          <a:stretch>
            <a:fillRect/>
          </a:stretch>
        </p:blipFill>
        <p:spPr bwMode="auto">
          <a:xfrm>
            <a:off x="3568700" y="508000"/>
            <a:ext cx="5105400" cy="3759200"/>
          </a:xfrm>
          <a:prstGeom prst="rect">
            <a:avLst/>
          </a:prstGeom>
          <a:noFill/>
          <a:ln w="9525">
            <a:noFill/>
            <a:headEnd/>
            <a:tailEnd/>
          </a:ln>
        </p:spPr>
      </p:pic>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Summary</a:t>
            </a:r>
          </a:p>
        </p:txBody>
      </p:sp>
      <p:sp>
        <p:nvSpPr>
          <p:cNvPr id="3" name="Content Placeholder 2"/>
          <p:cNvSpPr>
            <a:spLocks noGrp="1"/>
          </p:cNvSpPr>
          <p:nvPr>
            <p:ph idx="1"/>
          </p:nvPr>
        </p:nvSpPr>
        <p:spPr/>
        <p:txBody>
          <a:bodyPr/>
          <a:lstStyle/>
          <a:p>
            <a:pPr lvl="0"/>
            <a:r>
              <a:rPr/>
              <a:t>Introduction to Digital Transformation</a:t>
            </a:r>
          </a:p>
          <a:p>
            <a:pPr lvl="0"/>
            <a:r>
              <a:rPr/>
              <a:t>Digitization, Digitalization, and Digital Transformation</a:t>
            </a:r>
          </a:p>
          <a:p>
            <a:pPr lvl="0"/>
            <a:r>
              <a:rPr/>
              <a:t>The Digital Transformation Pyramid</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Questions?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46</Words>
  <Application>Microsoft Macintosh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digital transformation</dc:title>
  <dc:creator>Dr. Davood Wadi</dc:creator>
  <cp:keywords/>
  <dcterms:created xsi:type="dcterms:W3CDTF">2025-04-11T15:52:42Z</dcterms:created>
  <dcterms:modified xsi:type="dcterms:W3CDTF">2025-04-11T15:52:42Z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header-includes">
    <vt:lpwstr/>
  </property>
  <property fmtid="{D5CDD505-2E9C-101B-9397-08002B2CF9AE}" pid="6" name="include-after">
    <vt:lpwstr/>
  </property>
  <property fmtid="{D5CDD505-2E9C-101B-9397-08002B2CF9AE}" pid="7" name="include-before">
    <vt:lpwstr/>
  </property>
  <property fmtid="{D5CDD505-2E9C-101B-9397-08002B2CF9AE}" pid="8" name="labels">
    <vt:lpwstr/>
  </property>
  <property fmtid="{D5CDD505-2E9C-101B-9397-08002B2CF9AE}" pid="9" name="slide-number">
    <vt:lpwstr>True</vt:lpwstr>
  </property>
  <property fmtid="{D5CDD505-2E9C-101B-9397-08002B2CF9AE}" pid="10" name="toc-title">
    <vt:lpwstr>Table of contents</vt:lpwstr>
  </property>
</Properties>
</file>